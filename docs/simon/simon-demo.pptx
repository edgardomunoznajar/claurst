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5A43"/>
                </a:solidFill>
                <a:latin typeface="Inter"/>
              </a:rPr>
              <a:t>PROJECT SIMON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1">
                <a:solidFill>
                  <a:srgbClr val="1C1C1E"/>
                </a:solidFill>
                <a:latin typeface="Inter"/>
              </a:rPr>
              <a:t>AI agents,</a:t>
            </a:r>
          </a:p>
          <a:p>
            <a:pPr algn="l"/>
            <a:r>
              <a:rPr sz="7200" b="1">
                <a:solidFill>
                  <a:srgbClr val="1C1C1E"/>
                </a:solidFill>
                <a:latin typeface="Inter"/>
              </a:rPr>
              <a:t>under your ACLs.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480560"/>
            <a:ext cx="100584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55555A"/>
                </a:solidFill>
                <a:latin typeface="Inter"/>
              </a:rPr>
              <a:t>A Rust-based coding agent for Australian government agencies. Per-call ACL enforcement, tied to your SSO and enterprise search — prompt-injection-immune on the access dimension by construction.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6309360"/>
            <a:ext cx="10698480" cy="0"/>
          </a:xfrm>
          <a:prstGeom prst="line">
            <a:avLst/>
          </a:prstGeom>
          <a:ln w="12700">
            <a:solidFill>
              <a:srgbClr val="C6C6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55A"/>
                </a:solidFill>
                <a:latin typeface="Inter"/>
              </a:rPr>
              <a:t>docker compose up  •  github.com/edgardomunoznajar/claurst (branch: simon)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85800"/>
            <a:ext cx="11091672" cy="0"/>
          </a:xfrm>
          <a:prstGeom prst="line">
            <a:avLst/>
          </a:prstGeom>
          <a:ln w="12700">
            <a:solidFill>
              <a:srgbClr val="C6C6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55A"/>
                </a:solidFill>
                <a:latin typeface="Inter"/>
              </a:rPr>
              <a:t>02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A"/>
                </a:solidFill>
                <a:latin typeface="Inter"/>
              </a:rPr>
              <a:t>Simon  •  ACL-bound AI for Australian government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5A43"/>
                </a:solidFill>
                <a:latin typeface="Inter"/>
              </a:rPr>
              <a:t>THE MOMENT — APRIL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C1C1E"/>
                </a:solidFill>
                <a:latin typeface="Inter"/>
              </a:rPr>
              <a:t>Agents are here. Governance isn't.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542032"/>
            <a:ext cx="109728" cy="109728"/>
          </a:xfrm>
          <a:prstGeom prst="rect">
            <a:avLst/>
          </a:prstGeom>
          <a:solidFill>
            <a:srgbClr val="00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C1C1E"/>
                </a:solidFill>
                <a:latin typeface="Inter"/>
              </a:rPr>
              <a:t>Anthropic shipped Claude Mythos in April 2026. It completed a 32-step autonomous network attack 3/10 times when directed.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456432"/>
            <a:ext cx="109728" cy="109728"/>
          </a:xfrm>
          <a:prstGeom prst="rect">
            <a:avLst/>
          </a:prstGeom>
          <a:solidFill>
            <a:srgbClr val="00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C1C1E"/>
                </a:solidFill>
                <a:latin typeface="Inter"/>
              </a:rPr>
              <a:t>The DTA's Policy for Responsible AI in Government took effect 15 December 2025. It relies on review committees, risk boards, and periodic assessments.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4370832"/>
            <a:ext cx="109728" cy="109728"/>
          </a:xfrm>
          <a:prstGeom prst="rect">
            <a:avLst/>
          </a:prstGeom>
          <a:solidFill>
            <a:srgbClr val="00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C1C1E"/>
                </a:solidFill>
                <a:latin typeface="Inter"/>
              </a:rPr>
              <a:t>Agents operate continuously. Governance does not.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5285232"/>
            <a:ext cx="109728" cy="109728"/>
          </a:xfrm>
          <a:prstGeom prst="rect">
            <a:avLst/>
          </a:prstGeom>
          <a:solidFill>
            <a:srgbClr val="00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12064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C1C1E"/>
                </a:solidFill>
                <a:latin typeface="Inter"/>
              </a:rPr>
              <a:t>92% of organisations say agent governance is critical. Fewer than half have a formal policy. 80% report unexpected data access by agents (SailPoint / SecurityBrief AU).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85800"/>
            <a:ext cx="11091672" cy="0"/>
          </a:xfrm>
          <a:prstGeom prst="line">
            <a:avLst/>
          </a:prstGeom>
          <a:ln w="12700">
            <a:solidFill>
              <a:srgbClr val="C6C6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55A"/>
                </a:solidFill>
                <a:latin typeface="Inter"/>
              </a:rPr>
              <a:t>03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A"/>
                </a:solidFill>
                <a:latin typeface="Inter"/>
              </a:rPr>
              <a:t>Simon  •  ACL-bound AI for Australian government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5A43"/>
                </a:solidFill>
                <a:latin typeface="Inter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C1C1E"/>
                </a:solidFill>
                <a:latin typeface="Inter"/>
              </a:rPr>
              <a:t>An AI agent is a privileged account.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542032"/>
            <a:ext cx="109728" cy="109728"/>
          </a:xfrm>
          <a:prstGeom prst="rect">
            <a:avLst/>
          </a:prstGeom>
          <a:solidFill>
            <a:srgbClr val="00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C1C1E"/>
                </a:solidFill>
                <a:latin typeface="Inter"/>
              </a:rPr>
              <a:t>ValiDATA, on Essential Eight Control 4: "An AI agent that can access systems, query databases, send emails, or modify files is, in functional terms, a privileged account."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456432"/>
            <a:ext cx="109728" cy="109728"/>
          </a:xfrm>
          <a:prstGeom prst="rect">
            <a:avLst/>
          </a:prstGeom>
          <a:solidFill>
            <a:srgbClr val="00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C1C1E"/>
                </a:solidFill>
                <a:latin typeface="Inter"/>
              </a:rPr>
              <a:t>Existing CLI agents grant permissions at install time. One token, one install, ad-hoc and coarse. No per-user scoping, no per-document ACLs, no auditable denial.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4370832"/>
            <a:ext cx="109728" cy="109728"/>
          </a:xfrm>
          <a:prstGeom prst="rect">
            <a:avLst/>
          </a:prstGeom>
          <a:solidFill>
            <a:srgbClr val="00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C1C1E"/>
                </a:solidFill>
                <a:latin typeface="Inter"/>
              </a:rPr>
              <a:t>Prompt injection attacks don't need to defeat the agent's code — they only need to convince the LLM to ask the harness for data the user isn't cleared for.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85800"/>
            <a:ext cx="11091672" cy="0"/>
          </a:xfrm>
          <a:prstGeom prst="line">
            <a:avLst/>
          </a:prstGeom>
          <a:ln w="12700">
            <a:solidFill>
              <a:srgbClr val="C6C6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55A"/>
                </a:solidFill>
                <a:latin typeface="Inter"/>
              </a:rPr>
              <a:t>04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A"/>
                </a:solidFill>
                <a:latin typeface="Inter"/>
              </a:rPr>
              <a:t>Simon  •  ACL-bound AI for Australian government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5A43"/>
                </a:solidFill>
                <a:latin typeface="Inter"/>
              </a:rPr>
              <a:t>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C1C1E"/>
                </a:solidFill>
                <a:latin typeface="Inter"/>
              </a:rPr>
              <a:t>Put the ACL check in code the LLM can't reach.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542032"/>
            <a:ext cx="109728" cy="109728"/>
          </a:xfrm>
          <a:prstGeom prst="rect">
            <a:avLst/>
          </a:prstGeom>
          <a:solidFill>
            <a:srgbClr val="00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C1C1E"/>
                </a:solidFill>
                <a:latin typeface="Inter"/>
              </a:rPr>
              <a:t>Every read/write tool call passes through a deterministic Rust gate before any syscall. The LLM never decides whether access is allowed.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456432"/>
            <a:ext cx="109728" cy="109728"/>
          </a:xfrm>
          <a:prstGeom prst="rect">
            <a:avLst/>
          </a:prstGeom>
          <a:solidFill>
            <a:srgbClr val="00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C1C1E"/>
                </a:solidFill>
                <a:latin typeface="Inter"/>
              </a:rPr>
              <a:t>Decisions are bound to an SSO-resolved principal with a PSPF clearance claim, and to a per-document ACL derived from the agency's enterprise search (NES/NQRY in the demo).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4370832"/>
            <a:ext cx="109728" cy="109728"/>
          </a:xfrm>
          <a:prstGeom prst="rect">
            <a:avLst/>
          </a:prstGeom>
          <a:solidFill>
            <a:srgbClr val="00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C1C1E"/>
                </a:solidFill>
                <a:latin typeface="Inter"/>
              </a:rPr>
              <a:t>Fail-closed everywhere: untagged paths default to PROTECTED, the shell defaults to Off, audit failures abort the tool call.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5285232"/>
            <a:ext cx="109728" cy="109728"/>
          </a:xfrm>
          <a:prstGeom prst="rect">
            <a:avLst/>
          </a:prstGeom>
          <a:solidFill>
            <a:srgbClr val="00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12064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C1C1E"/>
                </a:solidFill>
                <a:latin typeface="Inter"/>
              </a:rPr>
              <a:t>No prompt rewording, roleplay, or agent loop can talk the check out of returning Deny.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85800"/>
            <a:ext cx="11091672" cy="0"/>
          </a:xfrm>
          <a:prstGeom prst="line">
            <a:avLst/>
          </a:prstGeom>
          <a:ln w="12700">
            <a:solidFill>
              <a:srgbClr val="C6C6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55A"/>
                </a:solidFill>
                <a:latin typeface="Inter"/>
              </a:rPr>
              <a:t>05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A"/>
                </a:solidFill>
                <a:latin typeface="Inter"/>
              </a:rPr>
              <a:t>Simon  •  ACL-bound AI for Australian government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5A43"/>
                </a:solidFill>
                <a:latin typeface="Inter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C1C1E"/>
                </a:solidFill>
                <a:latin typeface="Inter"/>
              </a:rPr>
              <a:t>Three layers of defence.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11064240" cy="1188720"/>
          </a:xfrm>
          <a:prstGeom prst="roundRect">
            <a:avLst/>
          </a:prstGeom>
          <a:solidFill>
            <a:srgbClr val="D4E6DF"/>
          </a:solidFill>
          <a:ln w="15875">
            <a:solidFill>
              <a:srgbClr val="005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09728" wrap="square"/>
          <a:lstStyle/>
          <a:p>
            <a:pPr algn="ctr"/>
            <a:r>
              <a:rPr sz="1800" b="1">
                <a:solidFill>
                  <a:srgbClr val="1C1C1E"/>
                </a:solidFill>
                <a:latin typeface="Inter"/>
              </a:rPr>
              <a:t>Layer 3  ·  User-approval prompt (UX)</a:t>
            </a:r>
          </a:p>
          <a:p>
            <a:r>
              <a:rPr sz="1300">
                <a:solidFill>
                  <a:srgbClr val="55555A"/>
                </a:solidFill>
                <a:latin typeface="Inter"/>
              </a:rPr>
              <a:t>Existing TUI permission dialog. Destructive ops (e.g. file_write) still prompt the operator. Can't override an L2 Deny.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520440"/>
            <a:ext cx="11064240" cy="1188720"/>
          </a:xfrm>
          <a:prstGeom prst="roundRect">
            <a:avLst/>
          </a:prstGeom>
          <a:solidFill>
            <a:srgbClr val="D4E6DF"/>
          </a:solidFill>
          <a:ln w="15875">
            <a:solidFill>
              <a:srgbClr val="005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09728" wrap="square"/>
          <a:lstStyle/>
          <a:p>
            <a:pPr algn="ctr"/>
            <a:r>
              <a:rPr sz="1800" b="1">
                <a:solidFill>
                  <a:srgbClr val="1C1C1E"/>
                </a:solidFill>
                <a:latin typeface="Inter"/>
              </a:rPr>
              <a:t>Layer 2  ·  AclEnforcer (deterministic Rust gate)</a:t>
            </a:r>
          </a:p>
          <a:p>
            <a:r>
              <a:rPr sz="1300">
                <a:solidFill>
                  <a:srgbClr val="55555A"/>
                </a:solidFill>
                <a:latin typeface="Inter"/>
              </a:rPr>
              <a:t>Per-call check, fail-closed, audited before the tool acts. SSO principal × PSPF-classified resource × op → Allow / Deny. Prompt-injection-immune on the access dimension.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846320"/>
            <a:ext cx="11064240" cy="1188720"/>
          </a:xfrm>
          <a:prstGeom prst="roundRect">
            <a:avLst/>
          </a:prstGeom>
          <a:solidFill>
            <a:srgbClr val="D4E6DF"/>
          </a:solidFill>
          <a:ln w="15875">
            <a:solidFill>
              <a:srgbClr val="005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09728" wrap="square"/>
          <a:lstStyle/>
          <a:p>
            <a:pPr algn="ctr"/>
            <a:r>
              <a:rPr sz="1800" b="1">
                <a:solidFill>
                  <a:srgbClr val="1C1C1E"/>
                </a:solidFill>
                <a:latin typeface="Inter"/>
              </a:rPr>
              <a:t>Layer 1  ·  Container FS view + egress firewall + seccomp</a:t>
            </a:r>
          </a:p>
          <a:p>
            <a:r>
              <a:rPr sz="1300">
                <a:solidFill>
                  <a:srgbClr val="55555A"/>
                </a:solidFill>
                <a:latin typeface="Inter"/>
              </a:rPr>
              <a:t>Real trust boundary. Per-clearance bind mount, deny-by-default egress, no symlink creation. Data the user can't see is NOT on the filesystem inside the container.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85800"/>
            <a:ext cx="11091672" cy="0"/>
          </a:xfrm>
          <a:prstGeom prst="line">
            <a:avLst/>
          </a:prstGeom>
          <a:ln w="12700">
            <a:solidFill>
              <a:srgbClr val="C6C6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55A"/>
                </a:solidFill>
                <a:latin typeface="Inter"/>
              </a:rPr>
              <a:t>06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A"/>
                </a:solidFill>
                <a:latin typeface="Inter"/>
              </a:rPr>
              <a:t>Simon  •  ACL-bound AI for Australian government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5A43"/>
                </a:solidFill>
                <a:latin typeface="Inter"/>
              </a:rPr>
              <a:t>LAYER 2 — THE ACLENFORCER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C1C1E"/>
                </a:solidFill>
                <a:latin typeface="Inter"/>
              </a:rPr>
              <a:t>Deterministic, auditable, fail-closed.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542032"/>
            <a:ext cx="109728" cy="109728"/>
          </a:xfrm>
          <a:prstGeom prst="rect">
            <a:avLst/>
          </a:prstGeom>
          <a:solidFill>
            <a:srgbClr val="00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C1C1E"/>
                </a:solidFill>
                <a:latin typeface="Inter"/>
              </a:rPr>
              <a:t>Rust trait: `check(principal, resource, op) -&gt; AclDecision`. Three backends ship: static-JSON, NES HTTP client, composite.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456432"/>
            <a:ext cx="109728" cy="109728"/>
          </a:xfrm>
          <a:prstGeom prst="rect">
            <a:avLst/>
          </a:prstGeom>
          <a:solidFill>
            <a:srgbClr val="00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C1C1E"/>
                </a:solidFill>
                <a:latin typeface="Inter"/>
              </a:rPr>
              <a:t>Every decision commits to an append-only audit sink (with fsync) before the tool is allowed to act. Audit failure → tool fails.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4370832"/>
            <a:ext cx="109728" cy="109728"/>
          </a:xfrm>
          <a:prstGeom prst="rect">
            <a:avLst/>
          </a:prstGeom>
          <a:solidFill>
            <a:srgbClr val="00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C1C1E"/>
                </a:solidFill>
                <a:latin typeface="Inter"/>
              </a:rPr>
              <a:t>Shell mode defaults to Off. An Allowlist mode permits exact program names and denies any command containing shell metacharacters — pipes, heredocs, eval, backticks, redirection.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5285232"/>
            <a:ext cx="109728" cy="109728"/>
          </a:xfrm>
          <a:prstGeom prst="rect">
            <a:avLst/>
          </a:prstGeom>
          <a:solidFill>
            <a:srgbClr val="00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12064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C1C1E"/>
                </a:solidFill>
                <a:latin typeface="Inter"/>
              </a:rPr>
              <a:t>What it does NOT claim: it cannot stop exfiltration of data the user legitimately read. That's Layer 1's job.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85800"/>
            <a:ext cx="11091672" cy="0"/>
          </a:xfrm>
          <a:prstGeom prst="line">
            <a:avLst/>
          </a:prstGeom>
          <a:ln w="12700">
            <a:solidFill>
              <a:srgbClr val="C6C6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55A"/>
                </a:solidFill>
                <a:latin typeface="Inter"/>
              </a:rPr>
              <a:t>07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A"/>
                </a:solidFill>
                <a:latin typeface="Inter"/>
              </a:rPr>
              <a:t>Simon  •  ACL-bound AI for Australian government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5A43"/>
                </a:solidFill>
                <a:latin typeface="Inter"/>
              </a:rPr>
              <a:t>LAYER 1 — CONTAINER AND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C1C1E"/>
                </a:solidFill>
                <a:latin typeface="Inter"/>
              </a:rPr>
              <a:t>The real trust boundary.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542032"/>
            <a:ext cx="109728" cy="109728"/>
          </a:xfrm>
          <a:prstGeom prst="rect">
            <a:avLst/>
          </a:prstGeom>
          <a:solidFill>
            <a:srgbClr val="00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C1C1E"/>
                </a:solidFill>
                <a:latin typeface="Inter"/>
              </a:rPr>
              <a:t>Per-session bind mount: /workspace only contains the subtree the user's clearance allows. A misbehaving tool literally cannot see forbidden files.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456432"/>
            <a:ext cx="109728" cy="109728"/>
          </a:xfrm>
          <a:prstGeom prst="rect">
            <a:avLst/>
          </a:prstGeom>
          <a:solidFill>
            <a:srgbClr val="00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C1C1E"/>
                </a:solidFill>
                <a:latin typeface="Inter"/>
              </a:rPr>
              <a:t>Egress firewall: the only path out is the LLM provider endpoint. No curl, wget, webhooks, or exfiltration channels.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4370832"/>
            <a:ext cx="109728" cy="109728"/>
          </a:xfrm>
          <a:prstGeom prst="rect">
            <a:avLst/>
          </a:prstGeom>
          <a:solidFill>
            <a:srgbClr val="00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C1C1E"/>
                </a:solidFill>
                <a:latin typeface="Inter"/>
              </a:rPr>
              <a:t>Seccomp denies symlink(2) and mount(2); no traversal tricks via crafted inodes.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5285232"/>
            <a:ext cx="109728" cy="109728"/>
          </a:xfrm>
          <a:prstGeom prst="rect">
            <a:avLst/>
          </a:prstGeom>
          <a:solidFill>
            <a:srgbClr val="00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12064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C1C1E"/>
                </a:solidFill>
                <a:latin typeface="Inter"/>
              </a:rPr>
              <a:t>Simon binary is owned by root, read-only; the process runs as a non-root service account. Host ptrace_scope=1.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85800"/>
            <a:ext cx="11091672" cy="0"/>
          </a:xfrm>
          <a:prstGeom prst="line">
            <a:avLst/>
          </a:prstGeom>
          <a:ln w="12700">
            <a:solidFill>
              <a:srgbClr val="C6C6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55A"/>
                </a:solidFill>
                <a:latin typeface="Inter"/>
              </a:rPr>
              <a:t>08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A"/>
                </a:solidFill>
                <a:latin typeface="Inter"/>
              </a:rPr>
              <a:t>Simon  •  ACL-bound AI for Australian government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5A43"/>
                </a:solidFill>
                <a:latin typeface="Inter"/>
              </a:rPr>
              <a:t>THE DEMO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C1C1E"/>
                </a:solidFill>
                <a:latin typeface="Inter"/>
              </a:rPr>
              <a:t>Single docker compose up.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48840"/>
            <a:ext cx="2377440" cy="868680"/>
          </a:xfrm>
          <a:prstGeom prst="roundRect">
            <a:avLst/>
          </a:prstGeom>
          <a:solidFill>
            <a:srgbClr val="00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/>
            <a:r>
              <a:rPr sz="2000" b="1">
                <a:solidFill>
                  <a:srgbClr val="FAFAF7"/>
                </a:solidFill>
                <a:latin typeface="JetBrains Mono"/>
              </a:rPr>
              <a:t>simon</a:t>
            </a:r>
          </a:p>
          <a:p>
            <a:r>
              <a:rPr sz="1100">
                <a:solidFill>
                  <a:srgbClr val="D4E6DF"/>
                </a:solidFill>
                <a:latin typeface="Inter"/>
              </a:rPr>
              <a:t>Rust TUI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240280"/>
            <a:ext cx="8503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1C1C1E"/>
                </a:solidFill>
                <a:latin typeface="Inter"/>
              </a:rPr>
              <a:t>Built from src-rust/, multi-stage Dockerfile, bullseye-slim runtime, non-root uid 1000, binary owned by root.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54680"/>
            <a:ext cx="2377440" cy="868680"/>
          </a:xfrm>
          <a:prstGeom prst="roundRect">
            <a:avLst/>
          </a:prstGeom>
          <a:solidFill>
            <a:srgbClr val="00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/>
            <a:r>
              <a:rPr sz="2000" b="1">
                <a:solidFill>
                  <a:srgbClr val="FAFAF7"/>
                </a:solidFill>
                <a:latin typeface="JetBrains Mono"/>
              </a:rPr>
              <a:t>dex</a:t>
            </a:r>
          </a:p>
          <a:p>
            <a:r>
              <a:rPr sz="1100">
                <a:solidFill>
                  <a:srgbClr val="D4E6DF"/>
                </a:solidFill>
                <a:latin typeface="Inter"/>
              </a:rPr>
              <a:t>OIDC provider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3246120"/>
            <a:ext cx="8503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1C1C1E"/>
                </a:solidFill>
                <a:latin typeface="Inter"/>
              </a:rPr>
              <a:t>ghcr.io/dexidp/dex:v2.40.0 with three static users. Clearance encoded in the sub claim (sarah-unofficial, bill-official, alice-protected).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160520"/>
            <a:ext cx="2377440" cy="868680"/>
          </a:xfrm>
          <a:prstGeom prst="roundRect">
            <a:avLst/>
          </a:prstGeom>
          <a:solidFill>
            <a:srgbClr val="00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/>
            <a:r>
              <a:rPr sz="2000" b="1">
                <a:solidFill>
                  <a:srgbClr val="FAFAF7"/>
                </a:solidFill>
                <a:latin typeface="JetBrains Mono"/>
              </a:rPr>
              <a:t>nes-mock</a:t>
            </a:r>
          </a:p>
          <a:p>
            <a:r>
              <a:rPr sz="1100">
                <a:solidFill>
                  <a:srgbClr val="D4E6DF"/>
                </a:solidFill>
                <a:latin typeface="Inter"/>
              </a:rPr>
              <a:t>Mock NES ACL 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4251960"/>
            <a:ext cx="8503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1C1C1E"/>
                </a:solidFill>
                <a:latin typeface="Inter"/>
              </a:rPr>
              <a:t>FastAPI service that mirrors the Rust StaticJsonEnforcer. Two endpoints: POST /acl/check and POST /acl/filter.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166360"/>
            <a:ext cx="2377440" cy="868680"/>
          </a:xfrm>
          <a:prstGeom prst="roundRect">
            <a:avLst/>
          </a:prstGeom>
          <a:solidFill>
            <a:srgbClr val="00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/>
            <a:r>
              <a:rPr sz="2000" b="1">
                <a:solidFill>
                  <a:srgbClr val="FAFAF7"/>
                </a:solidFill>
                <a:latin typeface="JetBrains Mono"/>
              </a:rPr>
              <a:t>corpus-init</a:t>
            </a:r>
          </a:p>
          <a:p>
            <a:r>
              <a:rPr sz="1100">
                <a:solidFill>
                  <a:srgbClr val="D4E6DF"/>
                </a:solidFill>
                <a:latin typeface="Inter"/>
              </a:rPr>
              <a:t>One-shot seeder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5257800"/>
            <a:ext cx="8503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1C1C1E"/>
                </a:solidFill>
                <a:latin typeface="Inter"/>
              </a:rPr>
              <a:t>Copies the Hansard corpus into the corpus named volume at startup, then exits.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85800"/>
            <a:ext cx="11091672" cy="0"/>
          </a:xfrm>
          <a:prstGeom prst="line">
            <a:avLst/>
          </a:prstGeom>
          <a:ln w="12700">
            <a:solidFill>
              <a:srgbClr val="C6C6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55A"/>
                </a:solidFill>
                <a:latin typeface="Inter"/>
              </a:rPr>
              <a:t>09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A"/>
                </a:solidFill>
                <a:latin typeface="Inter"/>
              </a:rPr>
              <a:t>Simon  •  ACL-bound AI for Australian government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5A43"/>
                </a:solidFill>
                <a:latin typeface="Inter"/>
              </a:rPr>
              <a:t>THE CORPUS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C1C1E"/>
                </a:solidFill>
                <a:latin typeface="Inter"/>
              </a:rPr>
              <a:t>Real Australian parliamentary text.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542032"/>
            <a:ext cx="109728" cy="109728"/>
          </a:xfrm>
          <a:prstGeom prst="rect">
            <a:avLst/>
          </a:prstGeom>
          <a:solidFill>
            <a:srgbClr val="00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C1C1E"/>
                </a:solidFill>
                <a:latin typeface="Inter"/>
              </a:rPr>
              <a:t>60 speeches from Hansard, sitting day 2022-09-08. Pulled from Zenodo (Katz &amp; Alexander 2023, DOI 10.5281/zenodo.8121950) via HTTP range requests — 400 KB out of a 329 MB archive.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456432"/>
            <a:ext cx="109728" cy="109728"/>
          </a:xfrm>
          <a:prstGeom prst="rect">
            <a:avLst/>
          </a:prstGeom>
          <a:solidFill>
            <a:srgbClr val="00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C1C1E"/>
                </a:solidFill>
                <a:latin typeface="Inter"/>
              </a:rPr>
              <a:t>Each speech carries a synthetic PSPF classification in a sidecar .acl.json: Unofficial (27), Official (13), Official:Sensitive (10), Protected (10).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4370832"/>
            <a:ext cx="109728" cy="109728"/>
          </a:xfrm>
          <a:prstGeom prst="rect">
            <a:avLst/>
          </a:prstGeom>
          <a:solidFill>
            <a:srgbClr val="00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C1C1E"/>
                </a:solidFill>
                <a:latin typeface="Inter"/>
              </a:rPr>
              <a:t>Classification assigned by keyword heuristic, then forcibly balanced so every tier has ≥10 documents. Balancer-promoted docs are flagged for auditor honesty.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5285232"/>
            <a:ext cx="109728" cy="109728"/>
          </a:xfrm>
          <a:prstGeom prst="rect">
            <a:avLst/>
          </a:prstGeom>
          <a:solidFill>
            <a:srgbClr val="00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12064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C1C1E"/>
                </a:solidFill>
                <a:latin typeface="Inter"/>
              </a:rPr>
              <a:t>The audience will recognise the speakers. That matters.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85800"/>
            <a:ext cx="11091672" cy="0"/>
          </a:xfrm>
          <a:prstGeom prst="line">
            <a:avLst/>
          </a:prstGeom>
          <a:ln w="12700">
            <a:solidFill>
              <a:srgbClr val="C6C6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55A"/>
                </a:solidFill>
                <a:latin typeface="Inter"/>
              </a:rPr>
              <a:t>10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A"/>
                </a:solidFill>
                <a:latin typeface="Inter"/>
              </a:rPr>
              <a:t>Simon  •  ACL-bound AI for Australian government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5A43"/>
                </a:solidFill>
                <a:latin typeface="Inter"/>
              </a:rPr>
              <a:t>THE DEMO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C1C1E"/>
                </a:solidFill>
                <a:latin typeface="Inter"/>
              </a:rPr>
              <a:t>Same query. Three users. Three answers.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542032"/>
            <a:ext cx="109728" cy="109728"/>
          </a:xfrm>
          <a:prstGeom prst="rect">
            <a:avLst/>
          </a:prstGeom>
          <a:solidFill>
            <a:srgbClr val="00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C1C1E"/>
                </a:solidFill>
                <a:latin typeface="Inter"/>
              </a:rPr>
              <a:t>sarah-unofficial asks: "summarise any cabinet memo in /workspace/protected". The gate denies. The LLM reports the denial with reason. Audit log records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456432"/>
            <a:ext cx="109728" cy="109728"/>
          </a:xfrm>
          <a:prstGeom prst="rect">
            <a:avLst/>
          </a:prstGeom>
          <a:solidFill>
            <a:srgbClr val="00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C1C1E"/>
                </a:solidFill>
                <a:latin typeface="Inter"/>
              </a:rPr>
              <a:t>bill-official asks the same thing. Same outcome — his clearance is one tier too low. Different audit entry.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4370832"/>
            <a:ext cx="109728" cy="109728"/>
          </a:xfrm>
          <a:prstGeom prst="rect">
            <a:avLst/>
          </a:prstGeom>
          <a:solidFill>
            <a:srgbClr val="00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C1C1E"/>
                </a:solidFill>
                <a:latin typeface="Inter"/>
              </a:rPr>
              <a:t>alice-protected asks the same thing. The gate allows. The LLM reads the document and produces a summary. Audit entry recorded as Allow.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5285232"/>
            <a:ext cx="109728" cy="109728"/>
          </a:xfrm>
          <a:prstGeom prst="rect">
            <a:avLst/>
          </a:prstGeom>
          <a:solidFill>
            <a:srgbClr val="00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12064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C1C1E"/>
                </a:solidFill>
                <a:latin typeface="Inter"/>
              </a:rPr>
              <a:t>docker compose exec simon tail -f /var/simon/audit.jsonl shows the decisions landing in real time.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85800"/>
            <a:ext cx="11091672" cy="0"/>
          </a:xfrm>
          <a:prstGeom prst="line">
            <a:avLst/>
          </a:prstGeom>
          <a:ln w="12700">
            <a:solidFill>
              <a:srgbClr val="C6C6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55A"/>
                </a:solidFill>
                <a:latin typeface="Inter"/>
              </a:rPr>
              <a:t>11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A"/>
                </a:solidFill>
                <a:latin typeface="Inter"/>
              </a:rPr>
              <a:t>Simon  •  ACL-bound AI for Australian government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5A43"/>
                </a:solidFill>
                <a:latin typeface="Inter"/>
              </a:rPr>
              <a:t>COVERAGE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>
                <a:solidFill>
                  <a:srgbClr val="1C1C1E"/>
                </a:solidFill>
                <a:latin typeface="Inter"/>
              </a:rPr>
              <a:t>What Simon buys you, framework by framework.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57400"/>
            <a:ext cx="11064240" cy="640080"/>
          </a:xfrm>
          <a:prstGeom prst="rect">
            <a:avLst/>
          </a:prstGeom>
          <a:solidFill>
            <a:srgbClr val="FAFAF7"/>
          </a:solidFill>
          <a:ln w="6350">
            <a:solidFill>
              <a:srgbClr val="C6C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67128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5A43"/>
                </a:solidFill>
                <a:latin typeface="Inter"/>
              </a:rPr>
              <a:t>Essential Eight Control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167128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1C1E"/>
                </a:solidFill>
                <a:latin typeface="Inter"/>
              </a:rPr>
              <a:t>Restrict Administrative Privileges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167128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A"/>
                </a:solidFill>
                <a:latin typeface="Inter"/>
              </a:rPr>
              <a:t>Implemented — per-session service-account principal, scoped read/write ACLs, audit register, revocable at clearance expiry.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43200"/>
            <a:ext cx="11064240" cy="640080"/>
          </a:xfrm>
          <a:prstGeom prst="rect">
            <a:avLst/>
          </a:prstGeom>
          <a:solidFill>
            <a:srgbClr val="FAFAF7"/>
          </a:solidFill>
          <a:ln w="6350">
            <a:solidFill>
              <a:srgbClr val="C6C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852928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5A43"/>
                </a:solidFill>
                <a:latin typeface="Inter"/>
              </a:rPr>
              <a:t>Essential Eight Control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852928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1C1E"/>
                </a:solidFill>
                <a:latin typeface="Inter"/>
              </a:rPr>
              <a:t>Multi-Factor Authentication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852928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A"/>
                </a:solidFill>
                <a:latin typeface="Inter"/>
              </a:rPr>
              <a:t>Implemented via OIDC to your IdP; destructive ops also gated by the L3 permission dialog.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429000"/>
            <a:ext cx="11064240" cy="640080"/>
          </a:xfrm>
          <a:prstGeom prst="rect">
            <a:avLst/>
          </a:prstGeom>
          <a:solidFill>
            <a:srgbClr val="FAFAF7"/>
          </a:solidFill>
          <a:ln w="6350">
            <a:solidFill>
              <a:srgbClr val="C6C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538728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5A43"/>
                </a:solidFill>
                <a:latin typeface="Inter"/>
              </a:rPr>
              <a:t>OWASP LLM01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538728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1C1E"/>
                </a:solidFill>
                <a:latin typeface="Inter"/>
              </a:rPr>
              <a:t>Prompt Injection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538728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A"/>
                </a:solidFill>
                <a:latin typeface="Inter"/>
              </a:rPr>
              <a:t>Immune-by-construction on the ACL dimension. The check runs in Rust the model cannot see or reason over.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114800"/>
            <a:ext cx="11064240" cy="640080"/>
          </a:xfrm>
          <a:prstGeom prst="rect">
            <a:avLst/>
          </a:prstGeom>
          <a:solidFill>
            <a:srgbClr val="FAFAF7"/>
          </a:solidFill>
          <a:ln w="6350">
            <a:solidFill>
              <a:srgbClr val="C6C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224528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5A43"/>
                </a:solidFill>
                <a:latin typeface="Inter"/>
              </a:rPr>
              <a:t>OWASP LLM06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4224528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1C1E"/>
                </a:solidFill>
                <a:latin typeface="Inter"/>
              </a:rPr>
              <a:t>Sensitive Information Disclosure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224528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A"/>
                </a:solidFill>
                <a:latin typeface="Inter"/>
              </a:rPr>
              <a:t>Mitigated — the core value proposition. Data the user can't see is not returned, and denied attempts are audited.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800600"/>
            <a:ext cx="11064240" cy="640080"/>
          </a:xfrm>
          <a:prstGeom prst="rect">
            <a:avLst/>
          </a:prstGeom>
          <a:solidFill>
            <a:srgbClr val="FAFAF7"/>
          </a:solidFill>
          <a:ln w="6350">
            <a:solidFill>
              <a:srgbClr val="C6C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910328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5A43"/>
                </a:solidFill>
                <a:latin typeface="Inter"/>
              </a:rPr>
              <a:t>OWASP LLM08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4910328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1C1E"/>
                </a:solidFill>
                <a:latin typeface="Inter"/>
              </a:rPr>
              <a:t>Excessive Agency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910328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A"/>
                </a:solidFill>
                <a:latin typeface="Inter"/>
              </a:rPr>
              <a:t>Mitigated — per-tool ACL gate, shell_mode defaults to Off, egress-locked container network.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486400"/>
            <a:ext cx="11064240" cy="640080"/>
          </a:xfrm>
          <a:prstGeom prst="rect">
            <a:avLst/>
          </a:prstGeom>
          <a:solidFill>
            <a:srgbClr val="FAFAF7"/>
          </a:solidFill>
          <a:ln w="6350">
            <a:solidFill>
              <a:srgbClr val="C6C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596128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5A43"/>
                </a:solidFill>
                <a:latin typeface="Inter"/>
              </a:rPr>
              <a:t>OWASP LLM03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5596128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1C1E"/>
                </a:solidFill>
                <a:latin typeface="Inter"/>
              </a:rPr>
              <a:t>Training Data Poisoning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5596128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A"/>
                </a:solidFill>
                <a:latin typeface="Inter"/>
              </a:rPr>
              <a:t>Out of scope. Mitigated upstream by the model provider.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85800"/>
            <a:ext cx="11091672" cy="0"/>
          </a:xfrm>
          <a:prstGeom prst="line">
            <a:avLst/>
          </a:prstGeom>
          <a:ln w="12700">
            <a:solidFill>
              <a:srgbClr val="C6C6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55A"/>
                </a:solidFill>
                <a:latin typeface="Inter"/>
              </a:rPr>
              <a:t>12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A"/>
                </a:solidFill>
                <a:latin typeface="Inter"/>
              </a:rPr>
              <a:t>Simon  •  ACL-bound AI for Australian government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5A43"/>
                </a:solidFill>
                <a:latin typeface="Inter"/>
              </a:rPr>
              <a:t>HONEST 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C1C1E"/>
                </a:solidFill>
                <a:latin typeface="Inter"/>
              </a:rPr>
              <a:t>What Simon does NOT solve.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542032"/>
            <a:ext cx="109728" cy="109728"/>
          </a:xfrm>
          <a:prstGeom prst="rect">
            <a:avLst/>
          </a:prstGeom>
          <a:solidFill>
            <a:srgbClr val="00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C1C1E"/>
                </a:solidFill>
                <a:latin typeface="Inter"/>
              </a:rPr>
              <a:t>Software-only ACL cannot be fully bypass-proof. A sufficiently motivated agent will find the narrow gaps. That's why Layer 1 exists.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456432"/>
            <a:ext cx="109728" cy="109728"/>
          </a:xfrm>
          <a:prstGeom prst="rect">
            <a:avLst/>
          </a:prstGeom>
          <a:solidFill>
            <a:srgbClr val="00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C1C1E"/>
                </a:solidFill>
                <a:latin typeface="Inter"/>
              </a:rPr>
              <a:t>MCP is disabled in the demo. Every MCP tool call is an ungated external file read; production requires a per-server ACL shim.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4370832"/>
            <a:ext cx="109728" cy="109728"/>
          </a:xfrm>
          <a:prstGeom prst="rect">
            <a:avLst/>
          </a:prstGeom>
          <a:solidFill>
            <a:srgbClr val="00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C1C1E"/>
                </a:solidFill>
                <a:latin typeface="Inter"/>
              </a:rPr>
              <a:t>Simon does not stop prompt injection that steers the agent toward authorised-but-undesirable actions. That is a separate problem.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5285232"/>
            <a:ext cx="109728" cy="109728"/>
          </a:xfrm>
          <a:prstGeom prst="rect">
            <a:avLst/>
          </a:prstGeom>
          <a:solidFill>
            <a:srgbClr val="00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12064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C1C1E"/>
                </a:solidFill>
                <a:latin typeface="Inter"/>
              </a:rPr>
              <a:t>Secret and Top Secret are not in scope. Hardware-isolated classifications need hardware-isolated harnesses.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199632"/>
            <a:ext cx="109728" cy="109728"/>
          </a:xfrm>
          <a:prstGeom prst="rect">
            <a:avLst/>
          </a:prstGeom>
          <a:solidFill>
            <a:srgbClr val="00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603504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C1C1E"/>
                </a:solidFill>
                <a:latin typeface="Inter"/>
              </a:rPr>
              <a:t>Every one of these limits is documented in docs/simon/threat-model.md.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85800"/>
            <a:ext cx="11091672" cy="0"/>
          </a:xfrm>
          <a:prstGeom prst="line">
            <a:avLst/>
          </a:prstGeom>
          <a:ln w="12700">
            <a:solidFill>
              <a:srgbClr val="C6C6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55A"/>
                </a:solidFill>
                <a:latin typeface="Inter"/>
              </a:rPr>
              <a:t>13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A"/>
                </a:solidFill>
                <a:latin typeface="Inter"/>
              </a:rPr>
              <a:t>Simon  •  ACL-bound AI for Australian government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5A43"/>
                </a:solidFill>
                <a:latin typeface="Inter"/>
              </a:rPr>
              <a:t>FROM DEMO TO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C1C1E"/>
                </a:solidFill>
                <a:latin typeface="Inter"/>
              </a:rPr>
              <a:t>One env var to the GovAI Brokerage.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542032"/>
            <a:ext cx="109728" cy="109728"/>
          </a:xfrm>
          <a:prstGeom prst="rect">
            <a:avLst/>
          </a:prstGeom>
          <a:solidFill>
            <a:srgbClr val="00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C1C1E"/>
                </a:solidFill>
                <a:latin typeface="Inter"/>
              </a:rPr>
              <a:t>LLM provider: SIMON_PROVIDER=anthropic (demo) → SIMON_PROVIDER=govai pointed at api.govai.gov.au. The rest of the stack is identical.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456432"/>
            <a:ext cx="109728" cy="109728"/>
          </a:xfrm>
          <a:prstGeom prst="rect">
            <a:avLst/>
          </a:prstGeom>
          <a:solidFill>
            <a:srgbClr val="00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C1C1E"/>
                </a:solidFill>
                <a:latin typeface="Inter"/>
              </a:rPr>
              <a:t>Identity: swap Dex for your agency IdP (Entra, VANguard, myGovID). Simon reads clearance from an OIDC claim.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4370832"/>
            <a:ext cx="109728" cy="109728"/>
          </a:xfrm>
          <a:prstGeom prst="rect">
            <a:avLst/>
          </a:prstGeom>
          <a:solidFill>
            <a:srgbClr val="00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C1C1E"/>
                </a:solidFill>
                <a:latin typeface="Inter"/>
              </a:rPr>
              <a:t>ACL source: swap nes-mock for a live NES/NQRY deployment. The wire protocol is a two-endpoint POST API — trivial to adapt to any enterprise search ACL provider.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5285232"/>
            <a:ext cx="109728" cy="109728"/>
          </a:xfrm>
          <a:prstGeom prst="rect">
            <a:avLst/>
          </a:prstGeom>
          <a:solidFill>
            <a:srgbClr val="00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12064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C1C1E"/>
                </a:solidFill>
                <a:latin typeface="Inter"/>
              </a:rPr>
              <a:t>Egress firewall enforced at the host network layer by the agency's existing iptables/nftables/NetworkPolicy stack. Docker Desktop can't enforce this; production can.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85800"/>
            <a:ext cx="11091672" cy="0"/>
          </a:xfrm>
          <a:prstGeom prst="line">
            <a:avLst/>
          </a:prstGeom>
          <a:ln w="12700">
            <a:solidFill>
              <a:srgbClr val="C6C6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55A"/>
                </a:solidFill>
                <a:latin typeface="Inter"/>
              </a:rPr>
              <a:t>14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A"/>
                </a:solidFill>
                <a:latin typeface="Inter"/>
              </a:rPr>
              <a:t>Simon  •  ACL-bound AI for Australian government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5A43"/>
                </a:solidFill>
                <a:latin typeface="Inter"/>
              </a:rPr>
              <a:t>WHAT'S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600" b="1">
                <a:solidFill>
                  <a:srgbClr val="005A43"/>
                </a:solidFill>
                <a:latin typeface="JetBrains Mono"/>
              </a:rPr>
              <a:t>docker compose up.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907792"/>
            <a:ext cx="109728" cy="109728"/>
          </a:xfrm>
          <a:prstGeom prst="rect">
            <a:avLst/>
          </a:prstGeom>
          <a:solidFill>
            <a:srgbClr val="00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1C1C1E"/>
                </a:solidFill>
                <a:latin typeface="Inter"/>
              </a:rPr>
              <a:t>The entire stack, including the Rust build, 60-document corpus, Dex, and mock NES, is one command on a laptop.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776472"/>
            <a:ext cx="109728" cy="109728"/>
          </a:xfrm>
          <a:prstGeom prst="rect">
            <a:avLst/>
          </a:prstGeom>
          <a:solidFill>
            <a:srgbClr val="00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1C1C1E"/>
                </a:solidFill>
                <a:latin typeface="Inter"/>
              </a:rPr>
              <a:t>scripts/smoke_test.sh asserts the gate behaviour end-to-end against the audit log — no LLM-quality assertions, just harness guarantees.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4645152"/>
            <a:ext cx="109728" cy="109728"/>
          </a:xfrm>
          <a:prstGeom prst="rect">
            <a:avLst/>
          </a:prstGeom>
          <a:solidFill>
            <a:srgbClr val="00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805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1C1C1E"/>
                </a:solidFill>
                <a:latin typeface="Inter"/>
              </a:rPr>
              <a:t>Code and docs on the simon branch. Four supporting documents already shipped: Essential Eight Control 4 mapping, OWASP LLM Top 10 coverage, threat model, pitch.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5513832"/>
            <a:ext cx="109728" cy="109728"/>
          </a:xfrm>
          <a:prstGeom prst="rect">
            <a:avLst/>
          </a:prstGeom>
          <a:solidFill>
            <a:srgbClr val="00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4924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1C1C1E"/>
                </a:solidFill>
                <a:latin typeface="Inter"/>
              </a:rPr>
              <a:t>Next: a 30-minute walkthrough with one of your teams, and a conversation about which data sources to wire first.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